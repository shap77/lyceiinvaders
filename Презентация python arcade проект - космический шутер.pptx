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0"/>
          </a:xfrm>
          <a:prstGeom prst="rect">
            <a:avLst/>
          </a:prstGeom>
          <a:solidFill>
            <a:srgbClr val="1E1E2E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3200">
                <a:solidFill>
                  <a:srgbClr val="B4B4C8"/>
                </a:solidFill>
                <a:latin typeface="Calibri"/>
              </a:defRPr>
            </a:pPr>
            <a:r>
              <a:t>Проект Python Arcade:</a:t>
            </a:r>
          </a:p>
          <a:p>
            <a:pPr algn="l">
              <a:spcBef>
                <a:spcPts val="1000"/>
              </a:spcBef>
              <a:defRPr sz="5400" b="1">
                <a:solidFill>
                  <a:srgbClr val="FFFFFF"/>
                </a:solidFill>
                <a:latin typeface="Calibri"/>
              </a:defRPr>
            </a:pPr>
            <a:r>
              <a:t>КОСМИЧЕСКИЙ ШУТЕР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200">
                <a:solidFill>
                  <a:srgbClr val="78788C"/>
                </a:solidFill>
                <a:latin typeface="Calibri Light"/>
              </a:defRPr>
            </a:pPr>
            <a:r>
              <a:t>Документация игровых механик и систем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45720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646478"/>
                </a:solidFill>
                <a:latin typeface="Calibri"/>
              </a:defRPr>
            </a:pPr>
            <a:r>
              <a:t>Авторы:</a:t>
            </a:r>
          </a:p>
          <a:p>
            <a:pPr>
              <a:spcBef>
                <a:spcPts val="800"/>
              </a:spcBef>
              <a:defRPr sz="2000">
                <a:solidFill>
                  <a:srgbClr val="DCDCF0"/>
                </a:solidFill>
                <a:latin typeface="Calibri"/>
              </a:defRPr>
            </a:pPr>
            <a:r>
              <a:t>    Годилов Роман</a:t>
            </a:r>
          </a:p>
          <a:p>
            <a:pPr>
              <a:spcBef>
                <a:spcPts val="200"/>
              </a:spcBef>
              <a:defRPr sz="2000">
                <a:solidFill>
                  <a:srgbClr val="DCDCF0"/>
                </a:solidFill>
                <a:latin typeface="Calibri"/>
              </a:defRPr>
            </a:pPr>
            <a:r>
              <a:t>    Чибитов Эмир</a:t>
            </a:r>
          </a:p>
        </p:txBody>
      </p:sp>
      <p:sp>
        <p:nvSpPr>
          <p:cNvPr id="6" name="Oval 5"/>
          <p:cNvSpPr/>
          <p:nvPr/>
        </p:nvSpPr>
        <p:spPr>
          <a:xfrm>
            <a:off x="9144000" y="1371600"/>
            <a:ext cx="1828800" cy="1828800"/>
          </a:xfrm>
          <a:prstGeom prst="ellipse">
            <a:avLst/>
          </a:prstGeom>
          <a:solidFill>
            <a:srgbClr val="28283C"/>
          </a:solidFill>
          <a:ln w="19050">
            <a:solidFill>
              <a:srgbClr val="50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E1E2E"/>
                </a:solidFill>
                <a:latin typeface="Calibri"/>
              </a:defRPr>
            </a:pPr>
            <a:r>
              <a:t>ОГЛАВЛЕНИЕ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3657600" cy="45720"/>
          </a:xfrm>
          <a:prstGeom prst="rect">
            <a:avLst/>
          </a:prstGeom>
          <a:solidFill>
            <a:srgbClr val="508CDC"/>
          </a:solidFill>
          <a:ln>
            <a:solidFill>
              <a:srgbClr val="50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>
                <a:solidFill>
                  <a:srgbClr val="3C3C50"/>
                </a:solidFill>
                <a:latin typeface="Calibri"/>
              </a:defRPr>
            </a:pPr>
            <a:r>
              <a:t>1. Ключевые игровые механики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3C3C50"/>
                </a:solidFill>
                <a:latin typeface="Calibri"/>
              </a:defRPr>
            </a:pPr>
            <a:r>
              <a:t>2. Изменение имени игрока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>
                <a:solidFill>
                  <a:srgbClr val="3C3C50"/>
                </a:solidFill>
                <a:latin typeface="Calibri"/>
              </a:defRPr>
            </a:pPr>
            <a:r>
              <a:t>3. Типы улучшений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3C3C50"/>
                </a:solidFill>
                <a:latin typeface="Calibri"/>
              </a:defRPr>
            </a:pPr>
            <a:r>
              <a:t>4. Система уровней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>
                <a:solidFill>
                  <a:srgbClr val="3C3C50"/>
                </a:solidFill>
                <a:latin typeface="Calibri"/>
              </a:defRPr>
            </a:pPr>
            <a:r>
              <a:t>5. Типы врагов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3C3C50"/>
                </a:solidFill>
                <a:latin typeface="Calibri"/>
              </a:defRPr>
            </a:pPr>
            <a:r>
              <a:t>6. Игровые экраны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>
                <a:solidFill>
                  <a:srgbClr val="3C3C50"/>
                </a:solidFill>
                <a:latin typeface="Calibri"/>
              </a:defRPr>
            </a:pPr>
            <a:r>
              <a:t>7. Визуальные эффекты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3C3C50"/>
                </a:solidFill>
                <a:latin typeface="Calibri"/>
              </a:defRPr>
            </a:pPr>
            <a:r>
              <a:t>8. Хранение данных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>
                <a:solidFill>
                  <a:srgbClr val="3C3C50"/>
                </a:solidFill>
                <a:latin typeface="Calibri"/>
              </a:defRPr>
            </a:pPr>
            <a:r>
              <a:t>9. Основные столкновения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3C3C50"/>
                </a:solidFill>
                <a:latin typeface="Calibri"/>
              </a:defRPr>
            </a:pPr>
            <a:r>
              <a:t>10. Движение врагов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>
                <a:solidFill>
                  <a:srgbClr val="3C3C50"/>
                </a:solidFill>
                <a:latin typeface="Calibri"/>
              </a:defRPr>
            </a:pPr>
            <a:r>
              <a:t>11. Технические параметры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5486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78788C"/>
                </a:solidFill>
                <a:latin typeface="Calibri"/>
              </a:defRPr>
            </a:pPr>
            <a:r>
              <a:t>Авторы:</a:t>
            </a:r>
          </a:p>
          <a:p>
            <a:pPr>
              <a:spcBef>
                <a:spcPts val="400"/>
              </a:spcBef>
              <a:defRPr sz="1600">
                <a:solidFill>
                  <a:srgbClr val="505064"/>
                </a:solidFill>
                <a:latin typeface="Calibri"/>
              </a:defRPr>
            </a:pPr>
            <a:r>
              <a:t>Годилов Роман</a:t>
            </a:r>
          </a:p>
          <a:p>
            <a:pPr>
              <a:spcBef>
                <a:spcPts val="200"/>
              </a:spcBef>
              <a:defRPr sz="1600">
                <a:solidFill>
                  <a:srgbClr val="505064"/>
                </a:solidFill>
                <a:latin typeface="Calibri"/>
              </a:defRPr>
            </a:pPr>
            <a:r>
              <a:t>Чибитов Эмир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B4B4C8"/>
                </a:solidFill>
                <a:latin typeface="Calibri Light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1E1E2E"/>
                </a:solidFill>
                <a:latin typeface="Calibri"/>
              </a:defRPr>
            </a:pPr>
            <a:r>
              <a:t>Ключевые игровые механики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3657600" cy="27432"/>
          </a:xfrm>
          <a:prstGeom prst="rect">
            <a:avLst/>
          </a:prstGeom>
          <a:solidFill>
            <a:srgbClr val="508CDC"/>
          </a:solidFill>
          <a:ln>
            <a:solidFill>
              <a:srgbClr val="50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Управление кораблем: A/D для движения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Стрельба: Левая кнопка мыши (ЛКМ) для выстрелов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Система жизней: 3 жизни, можно получить дополнительные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47471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Подсчет очков: Уничтожение врагов приносит очки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B4B4C8"/>
                </a:solidFill>
                <a:latin typeface="Calibri Light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1E1E2E"/>
                </a:solidFill>
                <a:latin typeface="Calibri"/>
              </a:defRPr>
            </a:pPr>
            <a:r>
              <a:t>Изменение имени игрока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3657600" cy="27432"/>
          </a:xfrm>
          <a:prstGeom prst="rect">
            <a:avLst/>
          </a:prstGeom>
          <a:solidFill>
            <a:srgbClr val="508CDC"/>
          </a:solidFill>
          <a:ln>
            <a:solidFill>
              <a:srgbClr val="50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lvl="1">
              <a:spcAft>
                <a:spcPts val="800"/>
              </a:spcAft>
              <a:defRPr sz="1800">
                <a:solidFill>
                  <a:srgbClr val="5A5A6E"/>
                </a:solidFill>
                <a:latin typeface="Calibri"/>
              </a:defRPr>
            </a:pPr>
            <a:r>
              <a:t>•  используйте клавиши для ввода имени: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lvl="1">
              <a:spcAft>
                <a:spcPts val="800"/>
              </a:spcAft>
              <a:defRPr sz="1800">
                <a:solidFill>
                  <a:srgbClr val="5A5A6E"/>
                </a:solidFill>
                <a:latin typeface="Calibri"/>
              </a:defRPr>
            </a:pPr>
            <a:r>
              <a:t>•  A-Z - буквы, 0-9 - цифры, SPACE - пробел, BAKSPACE - удалить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lvl="1">
              <a:spcAft>
                <a:spcPts val="800"/>
              </a:spcAft>
              <a:defRPr sz="1800">
                <a:solidFill>
                  <a:srgbClr val="5A5A6E"/>
                </a:solidFill>
                <a:latin typeface="Calibri"/>
              </a:defRPr>
            </a:pPr>
            <a:r>
              <a:t>•  CAPS LOCK/C - регистр, SHIFT - временный регистр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47471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lvl="1">
              <a:spcAft>
                <a:spcPts val="800"/>
              </a:spcAft>
              <a:defRPr sz="1800">
                <a:solidFill>
                  <a:srgbClr val="5A5A6E"/>
                </a:solidFill>
                <a:latin typeface="Calibri"/>
              </a:defRPr>
            </a:pPr>
            <a:r>
              <a:t>•  Индикатор вкл/выкл CAPS LOCK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B4B4C8"/>
                </a:solidFill>
                <a:latin typeface="Calibri Light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1E1E2E"/>
                </a:solidFill>
                <a:latin typeface="Calibri"/>
              </a:defRPr>
            </a:pPr>
            <a:r>
              <a:t>Типы улучшений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3657600" cy="27432"/>
          </a:xfrm>
          <a:prstGeom prst="rect">
            <a:avLst/>
          </a:prstGeom>
          <a:solidFill>
            <a:srgbClr val="508CDC"/>
          </a:solidFill>
          <a:ln>
            <a:solidFill>
              <a:srgbClr val="50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Щит - временная защита от вражеских пуль (5 сек)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1874520"/>
            <a:ext cx="365760" cy="365760"/>
          </a:xfrm>
          <a:prstGeom prst="ellipse">
            <a:avLst/>
          </a:prstGeom>
          <a:solidFill>
            <a:srgbClr val="508CDC"/>
          </a:solidFill>
          <a:ln>
            <a:solidFill>
              <a:srgbClr val="50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8745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Быстрая стрельба - уменьшение задержки между выстрелами (5 сек)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2423160"/>
            <a:ext cx="365760" cy="365760"/>
          </a:xfrm>
          <a:prstGeom prst="ellipse">
            <a:avLst/>
          </a:prstGeom>
          <a:solidFill>
            <a:srgbClr val="508CDC"/>
          </a:solidFill>
          <a:ln>
            <a:solidFill>
              <a:srgbClr val="50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4231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Дополнительная жизнь - +1 к здоровью игрока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2971800"/>
            <a:ext cx="365760" cy="365760"/>
          </a:xfrm>
          <a:prstGeom prst="ellipse">
            <a:avLst/>
          </a:prstGeom>
          <a:solidFill>
            <a:srgbClr val="508CDC"/>
          </a:solidFill>
          <a:ln>
            <a:solidFill>
              <a:srgbClr val="50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971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B4B4C8"/>
                </a:solidFill>
                <a:latin typeface="Calibri Light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1E1E2E"/>
                </a:solidFill>
                <a:latin typeface="Calibri"/>
              </a:defRPr>
            </a:pPr>
            <a:r>
              <a:t>Система уровней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3657600" cy="27432"/>
          </a:xfrm>
          <a:prstGeom prst="rect">
            <a:avLst/>
          </a:prstGeom>
          <a:solidFill>
            <a:srgbClr val="508CDC"/>
          </a:solidFill>
          <a:ln>
            <a:solidFill>
              <a:srgbClr val="50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Враги генерируются в виде сетки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С каждым уровнем: больше врагов и выше их скорость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Автоматический переход при уничтожении всех врагов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B4B4C8"/>
                </a:solidFill>
                <a:latin typeface="Calibri Light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1E1E2E"/>
                </a:solidFill>
                <a:latin typeface="Calibri"/>
              </a:defRPr>
            </a:pPr>
            <a:r>
              <a:t>Типы врагов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3657600" cy="27432"/>
          </a:xfrm>
          <a:prstGeom prst="rect">
            <a:avLst/>
          </a:prstGeom>
          <a:solidFill>
            <a:srgbClr val="508CDC"/>
          </a:solidFill>
          <a:ln>
            <a:solidFill>
              <a:srgbClr val="50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Зеленые - 1 HP, 10 очков (нижние ряды)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1874520"/>
            <a:ext cx="365760" cy="365760"/>
          </a:xfrm>
          <a:prstGeom prst="ellipse">
            <a:avLst/>
          </a:prstGeom>
          <a:solidFill>
            <a:srgbClr val="508CDC"/>
          </a:solidFill>
          <a:ln>
            <a:solidFill>
              <a:srgbClr val="50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8745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Синие   - 2 HP, 20 очков (средние ряды)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2423160"/>
            <a:ext cx="365760" cy="365760"/>
          </a:xfrm>
          <a:prstGeom prst="ellipse">
            <a:avLst/>
          </a:prstGeom>
          <a:solidFill>
            <a:srgbClr val="508CDC"/>
          </a:solidFill>
          <a:ln>
            <a:solidFill>
              <a:srgbClr val="50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4231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Красные - 3 HP, 30 очков (верхние ряды)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2971800"/>
            <a:ext cx="365760" cy="365760"/>
          </a:xfrm>
          <a:prstGeom prst="ellipse">
            <a:avLst/>
          </a:prstGeom>
          <a:solidFill>
            <a:srgbClr val="508CDC"/>
          </a:solidFill>
          <a:ln>
            <a:solidFill>
              <a:srgbClr val="50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971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B4B4C8"/>
                </a:solidFill>
                <a:latin typeface="Calibri Light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1E1E2E"/>
                </a:solidFill>
                <a:latin typeface="Calibri"/>
              </a:defRPr>
            </a:pPr>
            <a:r>
              <a:t>Игровые экраны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3657600" cy="27432"/>
          </a:xfrm>
          <a:prstGeom prst="rect">
            <a:avLst/>
          </a:prstGeom>
          <a:solidFill>
            <a:srgbClr val="508CDC"/>
          </a:solidFill>
          <a:ln>
            <a:solidFill>
              <a:srgbClr val="50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Главное меню - инструкции и таблица рекордов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Игровой экран - основная игра с интерфейсом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Экран поражения - результаты и варианты действий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B4B4C8"/>
                </a:solidFill>
                <a:latin typeface="Calibri Light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1E1E2E"/>
                </a:solidFill>
                <a:latin typeface="Calibri"/>
              </a:defRPr>
            </a:pPr>
            <a:r>
              <a:t>Визуальные эффекты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3657600" cy="27432"/>
          </a:xfrm>
          <a:prstGeom prst="rect">
            <a:avLst/>
          </a:prstGeom>
          <a:solidFill>
            <a:srgbClr val="508CDC"/>
          </a:solidFill>
          <a:ln>
            <a:solidFill>
              <a:srgbClr val="50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Пульсация врагов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Вращение улучшений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Анимация щита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47471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Частицы взрыва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023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Тряска экрана при получении урона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B4B4C8"/>
                </a:solidFill>
                <a:latin typeface="Calibri Light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1E1E2E"/>
                </a:solidFill>
                <a:latin typeface="Calibri"/>
              </a:defRPr>
            </a:pPr>
            <a:r>
              <a:t>Хранение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3657600" cy="27432"/>
          </a:xfrm>
          <a:prstGeom prst="rect">
            <a:avLst/>
          </a:prstGeom>
          <a:solidFill>
            <a:srgbClr val="508CDC"/>
          </a:solidFill>
          <a:ln>
            <a:solidFill>
              <a:srgbClr val="50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Автосохранение результатов в CSV файл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Таблица рекордов (ТОП-5) в главном меню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Формат: Очки, Уровень, Жизни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B4B4C8"/>
                </a:solidFill>
                <a:latin typeface="Calibri Light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1E1E2E"/>
                </a:solidFill>
                <a:latin typeface="Calibri"/>
              </a:defRPr>
            </a:pPr>
            <a:r>
              <a:t>Основные столкновения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3657600" cy="27432"/>
          </a:xfrm>
          <a:prstGeom prst="rect">
            <a:avLst/>
          </a:prstGeom>
          <a:solidFill>
            <a:srgbClr val="508CDC"/>
          </a:solidFill>
          <a:ln>
            <a:solidFill>
              <a:srgbClr val="50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Пули игрока → Враги (уничтожение)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1874520"/>
            <a:ext cx="365760" cy="365760"/>
          </a:xfrm>
          <a:prstGeom prst="ellipse">
            <a:avLst/>
          </a:prstGeom>
          <a:solidFill>
            <a:srgbClr val="508CDC"/>
          </a:solidFill>
          <a:ln>
            <a:solidFill>
              <a:srgbClr val="50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8745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Пули врагов → Игрок (потеря жизни)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2423160"/>
            <a:ext cx="365760" cy="365760"/>
          </a:xfrm>
          <a:prstGeom prst="ellipse">
            <a:avLst/>
          </a:prstGeom>
          <a:solidFill>
            <a:srgbClr val="508CDC"/>
          </a:solidFill>
          <a:ln>
            <a:solidFill>
              <a:srgbClr val="50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4231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Игрок → Улучшения (получение бонуса)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2971800"/>
            <a:ext cx="365760" cy="365760"/>
          </a:xfrm>
          <a:prstGeom prst="ellipse">
            <a:avLst/>
          </a:prstGeom>
          <a:solidFill>
            <a:srgbClr val="508CDC"/>
          </a:solidFill>
          <a:ln>
            <a:solidFill>
              <a:srgbClr val="50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971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B4B4C8"/>
                </a:solidFill>
                <a:latin typeface="Calibri Light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1E1E2E"/>
                </a:solidFill>
                <a:latin typeface="Calibri"/>
              </a:defRPr>
            </a:pPr>
            <a:r>
              <a:t>Движение врагов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3657600" cy="27432"/>
          </a:xfrm>
          <a:prstGeom prst="rect">
            <a:avLst/>
          </a:prstGeom>
          <a:solidFill>
            <a:srgbClr val="508CDC"/>
          </a:solidFill>
          <a:ln>
            <a:solidFill>
              <a:srgbClr val="50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Движение вправо/влево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Опускание при достижении края экрана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Автоматическая стрельба (синие и красные враги)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B4B4C8"/>
                </a:solidFill>
                <a:latin typeface="Calibri Light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1E1E2E"/>
                </a:solidFill>
                <a:latin typeface="Calibri"/>
              </a:defRPr>
            </a:pPr>
            <a:r>
              <a:t>Технические параметры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3657600" cy="27432"/>
          </a:xfrm>
          <a:prstGeom prst="rect">
            <a:avLst/>
          </a:prstGeom>
          <a:solidFill>
            <a:srgbClr val="508CDC"/>
          </a:solidFill>
          <a:ln>
            <a:solidFill>
              <a:srgbClr val="50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Разрешение: 1024×768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Управление: Клавиатура + мышь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6465A"/>
                </a:solidFill>
                <a:latin typeface="Calibri"/>
              </a:defRPr>
            </a:pPr>
            <a:r>
              <a:t>●  Игровой процесс: Без гравитации, космический шутер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400" b="1">
                <a:solidFill>
                  <a:srgbClr val="1E1E2E"/>
                </a:solidFill>
                <a:latin typeface="Calibri"/>
              </a:defRPr>
            </a:pPr>
            <a:r>
              <a:t>СПАСИБО</a:t>
            </a:r>
          </a:p>
          <a:p>
            <a:pPr algn="ctr">
              <a:spcBef>
                <a:spcPts val="2000"/>
              </a:spcBef>
              <a:defRPr sz="4800">
                <a:solidFill>
                  <a:srgbClr val="508CDC"/>
                </a:solidFill>
                <a:latin typeface="Calibri"/>
              </a:defRPr>
            </a:pPr>
            <a:r>
              <a:t>ЗА ВНИМАНИЕ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5029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>
                <a:solidFill>
                  <a:srgbClr val="78788C"/>
                </a:solidFill>
                <a:latin typeface="Calibri Light"/>
              </a:defRPr>
            </a:pPr>
            <a:r>
              <a:t>Проект Python Arcade: Космический шутер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9436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400">
                <a:solidFill>
                  <a:srgbClr val="9696AA"/>
                </a:solidFill>
                <a:latin typeface="Calibri"/>
              </a:defRPr>
            </a:pPr>
            <a:r>
              <a:t>Годилов Роман | Чибитов Эмир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